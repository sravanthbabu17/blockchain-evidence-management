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0" r:id="rId1"/>
  </p:sldMasterIdLst>
  <p:notesMasterIdLst>
    <p:notesMasterId r:id="rId28"/>
  </p:notesMasterIdLst>
  <p:sldIdLst>
    <p:sldId id="256" r:id="rId2"/>
    <p:sldId id="258" r:id="rId3"/>
    <p:sldId id="264" r:id="rId4"/>
    <p:sldId id="285" r:id="rId5"/>
    <p:sldId id="286" r:id="rId6"/>
    <p:sldId id="287" r:id="rId7"/>
    <p:sldId id="289" r:id="rId8"/>
    <p:sldId id="262" r:id="rId9"/>
    <p:sldId id="266" r:id="rId10"/>
    <p:sldId id="268" r:id="rId11"/>
    <p:sldId id="290" r:id="rId12"/>
    <p:sldId id="291" r:id="rId13"/>
    <p:sldId id="292" r:id="rId14"/>
    <p:sldId id="282" r:id="rId15"/>
    <p:sldId id="278" r:id="rId16"/>
    <p:sldId id="279" r:id="rId17"/>
    <p:sldId id="280" r:id="rId18"/>
    <p:sldId id="281" r:id="rId19"/>
    <p:sldId id="283" r:id="rId20"/>
    <p:sldId id="284" r:id="rId21"/>
    <p:sldId id="294" r:id="rId22"/>
    <p:sldId id="293" r:id="rId23"/>
    <p:sldId id="272" r:id="rId24"/>
    <p:sldId id="274" r:id="rId25"/>
    <p:sldId id="275" r:id="rId26"/>
    <p:sldId id="277" r:id="rId2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5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 Babu K" userId="5fdb7a9dc52c06c5" providerId="LiveId" clId="{0353FE5C-43BA-41F1-A16F-E7536554412D}"/>
    <pc:docChg chg="modSld">
      <pc:chgData name="Sravanth Babu K" userId="5fdb7a9dc52c06c5" providerId="LiveId" clId="{0353FE5C-43BA-41F1-A16F-E7536554412D}" dt="2026-04-07T19:19:24.672" v="1" actId="20577"/>
      <pc:docMkLst>
        <pc:docMk/>
      </pc:docMkLst>
      <pc:sldChg chg="modSp mod">
        <pc:chgData name="Sravanth Babu K" userId="5fdb7a9dc52c06c5" providerId="LiveId" clId="{0353FE5C-43BA-41F1-A16F-E7536554412D}" dt="2026-04-07T19:19:24.672" v="1" actId="20577"/>
        <pc:sldMkLst>
          <pc:docMk/>
          <pc:sldMk cId="1533870821" sldId="266"/>
        </pc:sldMkLst>
        <pc:spChg chg="mod">
          <ac:chgData name="Sravanth Babu K" userId="5fdb7a9dc52c06c5" providerId="LiveId" clId="{0353FE5C-43BA-41F1-A16F-E7536554412D}" dt="2026-04-07T19:19:24.672" v="1" actId="20577"/>
          <ac:spMkLst>
            <pc:docMk/>
            <pc:sldMk cId="1533870821" sldId="266"/>
            <ac:spMk id="2" creationId="{C27D222A-237A-6520-5A4B-4E34617793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7A247-CF94-4DC0-AF4A-A098F8B4273B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3D56E-FB7E-4F9C-8FC1-EFB0574A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83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3D56E-FB7E-4F9C-8FC1-EFB0574A6ED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78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" y="9501474"/>
            <a:ext cx="18288000" cy="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2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15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6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13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2768602"/>
            <a:ext cx="7406640" cy="6035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3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3"/>
            <a:ext cx="7406640" cy="4930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4930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4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2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4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9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1" y="7612380"/>
            <a:ext cx="15170468" cy="1234440"/>
          </a:xfrm>
        </p:spPr>
        <p:txBody>
          <a:bodyPr tIns="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6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8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7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18453"/>
            <a:ext cx="3943350" cy="8639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18453"/>
            <a:ext cx="11601450" cy="863984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9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057400" y="736992"/>
            <a:ext cx="153162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1800"/>
              </a:spcAft>
            </a:pPr>
            <a:r>
              <a:rPr lang="en-US" sz="6000" b="1" dirty="0" err="1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EvidenceChain</a:t>
            </a:r>
            <a:r>
              <a:rPr lang="en-US" sz="60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: IoT-Based Blockchain Evidence Management for Post-Collision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03870" y="6438900"/>
            <a:ext cx="4419600" cy="270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2200" b="1" dirty="0"/>
              <a:t>Submitted By: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</a:pPr>
            <a:r>
              <a:rPr lang="en-US" sz="2200" b="1" dirty="0"/>
              <a:t>(Batch-16)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2200" dirty="0" err="1"/>
              <a:t>K.V.V.Sravanth</a:t>
            </a:r>
            <a:r>
              <a:rPr lang="en-US" sz="2200" dirty="0"/>
              <a:t> Babu - 22B91A4725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2200" dirty="0" err="1"/>
              <a:t>Ch.Mahalakshmi</a:t>
            </a:r>
            <a:r>
              <a:rPr lang="en-US" sz="2200" dirty="0"/>
              <a:t> - 23B95A4703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2200" dirty="0" err="1"/>
              <a:t>A.V.Sri</a:t>
            </a:r>
            <a:r>
              <a:rPr lang="en-US" sz="2200" dirty="0"/>
              <a:t> </a:t>
            </a:r>
            <a:r>
              <a:rPr lang="en-US" sz="2200" dirty="0" err="1"/>
              <a:t>Sathwika</a:t>
            </a:r>
            <a:r>
              <a:rPr lang="en-US" sz="2200" dirty="0"/>
              <a:t> - 22B91A4701</a:t>
            </a:r>
          </a:p>
          <a:p>
            <a:pPr lvl="0">
              <a:lnSpc>
                <a:spcPct val="150000"/>
              </a:lnSpc>
              <a:buSzPts val="1100"/>
            </a:pPr>
            <a:r>
              <a:rPr lang="en-US" sz="2200" dirty="0" err="1"/>
              <a:t>A.N.S.R.K.Raju</a:t>
            </a:r>
            <a:r>
              <a:rPr lang="en-US" sz="2200" dirty="0"/>
              <a:t> - 22B91A4702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EF0769D0-FAC8-AD98-B9C9-5A0C0D513EE1}"/>
              </a:ext>
            </a:extLst>
          </p:cNvPr>
          <p:cNvCxnSpPr/>
          <p:nvPr/>
        </p:nvCxnSpPr>
        <p:spPr>
          <a:xfrm>
            <a:off x="2057400" y="2583651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oogle Shape;89;p13">
            <a:extLst>
              <a:ext uri="{FF2B5EF4-FFF2-40B4-BE49-F238E27FC236}">
                <a16:creationId xmlns:a16="http://schemas.microsoft.com/office/drawing/2014/main" id="{00BF970E-8175-3996-D577-ADB4ACBED911}"/>
              </a:ext>
            </a:extLst>
          </p:cNvPr>
          <p:cNvCxnSpPr/>
          <p:nvPr/>
        </p:nvCxnSpPr>
        <p:spPr>
          <a:xfrm>
            <a:off x="2036938" y="2733078"/>
            <a:ext cx="127035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7377A6-FA54-10DA-8DC2-F8C58A9B39C1}"/>
              </a:ext>
            </a:extLst>
          </p:cNvPr>
          <p:cNvSpPr txBox="1"/>
          <p:nvPr/>
        </p:nvSpPr>
        <p:spPr>
          <a:xfrm>
            <a:off x="4996526" y="7638576"/>
            <a:ext cx="7541916" cy="2080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1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lvl="0"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D.V.S.R.K.RAJU</a:t>
            </a:r>
          </a:p>
          <a:p>
            <a:pPr lvl="0"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lvl="0"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985BE5-A98F-FE21-7670-E2E19B21A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500" y="3005628"/>
            <a:ext cx="2071684" cy="18027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E537DD-E454-CF13-A19A-EDE489459680}"/>
              </a:ext>
            </a:extLst>
          </p:cNvPr>
          <p:cNvSpPr txBox="1"/>
          <p:nvPr/>
        </p:nvSpPr>
        <p:spPr>
          <a:xfrm>
            <a:off x="4214842" y="4921140"/>
            <a:ext cx="9170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SRKR ENGINEERING COLLEGE (A)</a:t>
            </a:r>
          </a:p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ChinnaAmiram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Bhimavaram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West Godavari Dist., A.P.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[2025 – 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667000" y="1070296"/>
            <a:ext cx="11329558" cy="100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48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2247900"/>
            <a:ext cx="14173200" cy="4774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algn="just">
              <a:lnSpc>
                <a:spcPct val="200000"/>
              </a:lnSpc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• Road traffic accidents are a major concern in modern transportation systems  </a:t>
            </a:r>
          </a:p>
          <a:p>
            <a:pPr marL="457200" lvl="0" algn="just">
              <a:lnSpc>
                <a:spcPct val="200000"/>
              </a:lnSpc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• Accident investigation depends on accurate and reliable evidence  </a:t>
            </a:r>
          </a:p>
          <a:p>
            <a:pPr marL="457200" lvl="0" algn="just">
              <a:lnSpc>
                <a:spcPct val="200000"/>
              </a:lnSpc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• Digital technologies are increasingly used in vehicle monitoring  </a:t>
            </a:r>
          </a:p>
          <a:p>
            <a:pPr marL="457200" lvl="0" algn="just">
              <a:lnSpc>
                <a:spcPct val="200000"/>
              </a:lnSpc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• Secure data handling is essential for trustworthy analysis  </a:t>
            </a:r>
          </a:p>
          <a:p>
            <a:pPr marL="457200" lvl="0" algn="just">
              <a:lnSpc>
                <a:spcPct val="200000"/>
              </a:lnSpc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• Emerging technologies enable improved evidence management </a:t>
            </a:r>
          </a:p>
        </p:txBody>
      </p:sp>
      <p:cxnSp>
        <p:nvCxnSpPr>
          <p:cNvPr id="6" name="Google Shape;88;p13">
            <a:extLst>
              <a:ext uri="{FF2B5EF4-FFF2-40B4-BE49-F238E27FC236}">
                <a16:creationId xmlns:a16="http://schemas.microsoft.com/office/drawing/2014/main" id="{1F172764-FD15-E928-3FE7-F65EA10DA9DF}"/>
              </a:ext>
            </a:extLst>
          </p:cNvPr>
          <p:cNvCxnSpPr/>
          <p:nvPr/>
        </p:nvCxnSpPr>
        <p:spPr>
          <a:xfrm>
            <a:off x="457200" y="201930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1181100"/>
            <a:ext cx="11329558" cy="100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48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2476500"/>
            <a:ext cx="16825765" cy="674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387286" algn="just">
              <a:lnSpc>
                <a:spcPct val="20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depend on manual reporting after the accident has occurred.</a:t>
            </a:r>
          </a:p>
          <a:p>
            <a:pPr marL="457200" lvl="0" indent="-387286" algn="just">
              <a:lnSpc>
                <a:spcPct val="20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storage of accident data increases the risk of data tampering and loss.</a:t>
            </a:r>
          </a:p>
          <a:p>
            <a:pPr marL="457200" lvl="0" indent="-387286" algn="just">
              <a:lnSpc>
                <a:spcPct val="20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reliable mechanism to automatically capture and preserve evidence at the exact time of collision.</a:t>
            </a:r>
          </a:p>
          <a:p>
            <a:pPr marL="457200" lvl="0" indent="-387286" algn="just">
              <a:lnSpc>
                <a:spcPct val="20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evidence verification lead to disputes in insurance and legal processes.</a:t>
            </a:r>
          </a:p>
          <a:p>
            <a:pPr marL="457200" lvl="0" indent="-387286" algn="just">
              <a:lnSpc>
                <a:spcPct val="20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do not provide a transparent chain-of-custody for accident evidence.</a:t>
            </a:r>
          </a:p>
          <a:p>
            <a:pPr lvl="0" algn="just">
              <a:lnSpc>
                <a:spcPct val="20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2CFFFAEF-C703-9C7B-6B06-99DE52816A5E}"/>
              </a:ext>
            </a:extLst>
          </p:cNvPr>
          <p:cNvCxnSpPr/>
          <p:nvPr/>
        </p:nvCxnSpPr>
        <p:spPr>
          <a:xfrm>
            <a:off x="990600" y="224790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11E57D-EA00-C26B-20A3-58FAB99E0979}"/>
              </a:ext>
            </a:extLst>
          </p:cNvPr>
          <p:cNvSpPr txBox="1"/>
          <p:nvPr/>
        </p:nvSpPr>
        <p:spPr>
          <a:xfrm>
            <a:off x="5486400" y="-190500"/>
            <a:ext cx="9144000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48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393965-DE06-2F70-4298-2EF7EB3E3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33418"/>
              </p:ext>
            </p:extLst>
          </p:nvPr>
        </p:nvGraphicFramePr>
        <p:xfrm>
          <a:off x="762000" y="1028700"/>
          <a:ext cx="17053560" cy="8019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817">
                  <a:extLst>
                    <a:ext uri="{9D8B030D-6E8A-4147-A177-3AD203B41FA5}">
                      <a16:colId xmlns:a16="http://schemas.microsoft.com/office/drawing/2014/main" val="3809921542"/>
                    </a:ext>
                  </a:extLst>
                </a:gridCol>
                <a:gridCol w="3179629">
                  <a:extLst>
                    <a:ext uri="{9D8B030D-6E8A-4147-A177-3AD203B41FA5}">
                      <a16:colId xmlns:a16="http://schemas.microsoft.com/office/drawing/2014/main" val="3523334814"/>
                    </a:ext>
                  </a:extLst>
                </a:gridCol>
                <a:gridCol w="1880908">
                  <a:extLst>
                    <a:ext uri="{9D8B030D-6E8A-4147-A177-3AD203B41FA5}">
                      <a16:colId xmlns:a16="http://schemas.microsoft.com/office/drawing/2014/main" val="2838009670"/>
                    </a:ext>
                  </a:extLst>
                </a:gridCol>
                <a:gridCol w="2427267">
                  <a:extLst>
                    <a:ext uri="{9D8B030D-6E8A-4147-A177-3AD203B41FA5}">
                      <a16:colId xmlns:a16="http://schemas.microsoft.com/office/drawing/2014/main" val="1357463190"/>
                    </a:ext>
                  </a:extLst>
                </a:gridCol>
                <a:gridCol w="2409353">
                  <a:extLst>
                    <a:ext uri="{9D8B030D-6E8A-4147-A177-3AD203B41FA5}">
                      <a16:colId xmlns:a16="http://schemas.microsoft.com/office/drawing/2014/main" val="524341875"/>
                    </a:ext>
                  </a:extLst>
                </a:gridCol>
                <a:gridCol w="2749707">
                  <a:extLst>
                    <a:ext uri="{9D8B030D-6E8A-4147-A177-3AD203B41FA5}">
                      <a16:colId xmlns:a16="http://schemas.microsoft.com/office/drawing/2014/main" val="4090294949"/>
                    </a:ext>
                  </a:extLst>
                </a:gridCol>
                <a:gridCol w="2713879">
                  <a:extLst>
                    <a:ext uri="{9D8B030D-6E8A-4147-A177-3AD203B41FA5}">
                      <a16:colId xmlns:a16="http://schemas.microsoft.com/office/drawing/2014/main" val="1900787329"/>
                    </a:ext>
                  </a:extLst>
                </a:gridCol>
              </a:tblGrid>
              <a:tr h="1145712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/ Tools Used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861916063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Decentralized Post-Collision Evidence Management Using IoT and Blockchain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Z. Ullah, M. Imran, A. Khan, S. Khan, N. Ahmad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sensing, IPFS, blockchain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complete post-collision evidence framework with decentralized storage.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Prototype-level validation; real-world deployment not evaluated.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823496144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Edge–Blockchain System for Accident Evidence Verification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Kim, S. Park, H. Lee, M. Choi, Y. Jung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preprocessing, blockchain anchoring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verification delay using edge processing.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synchronization and scalability challenges.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836997204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TrustChain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-VANETs: Blockchain and IPFS in Vehicular Networks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Z. Ullah, M. Imran, A. Khan, S. Khan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VANET integration, IPFS, blockchain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trustworthy vehicular data sharing.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network availability.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2488639728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Judicial Evidence Preservation System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de-DE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Liu, J. Wang, H. Zhao, L. Chen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IPFS, blockchain anchoring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legal-grade evidence preservation with chain-of-custody support.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system complexity and operational cost.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3256195487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Digital Evidence Storage for Smart Cities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Rani Devi, S. Kumar, P. Sharma, A. Verma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contracts, IPFS, blockchain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scalable and controlled digital evidence storage.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key management and access control.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3413976279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Lifecycle Management using Blockchain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Authors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lifecycle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full evidence lifecycle with integrity assurance.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 and storage overhead issues.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205616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80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5F24-7EBD-5EF9-2046-C75C69D3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E02424-ACB9-5B5E-FD0A-F845B0591E34}"/>
              </a:ext>
            </a:extLst>
          </p:cNvPr>
          <p:cNvSpPr txBox="1"/>
          <p:nvPr/>
        </p:nvSpPr>
        <p:spPr>
          <a:xfrm>
            <a:off x="5486400" y="-190500"/>
            <a:ext cx="9144000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48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LITERATURE SURVEY(Contd..)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33D643-40D1-6C4B-34EF-36E52ED55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15231"/>
              </p:ext>
            </p:extLst>
          </p:nvPr>
        </p:nvGraphicFramePr>
        <p:xfrm>
          <a:off x="762000" y="1028700"/>
          <a:ext cx="17053560" cy="8019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817">
                  <a:extLst>
                    <a:ext uri="{9D8B030D-6E8A-4147-A177-3AD203B41FA5}">
                      <a16:colId xmlns:a16="http://schemas.microsoft.com/office/drawing/2014/main" val="3809921542"/>
                    </a:ext>
                  </a:extLst>
                </a:gridCol>
                <a:gridCol w="3179629">
                  <a:extLst>
                    <a:ext uri="{9D8B030D-6E8A-4147-A177-3AD203B41FA5}">
                      <a16:colId xmlns:a16="http://schemas.microsoft.com/office/drawing/2014/main" val="3523334814"/>
                    </a:ext>
                  </a:extLst>
                </a:gridCol>
                <a:gridCol w="1880908">
                  <a:extLst>
                    <a:ext uri="{9D8B030D-6E8A-4147-A177-3AD203B41FA5}">
                      <a16:colId xmlns:a16="http://schemas.microsoft.com/office/drawing/2014/main" val="2838009670"/>
                    </a:ext>
                  </a:extLst>
                </a:gridCol>
                <a:gridCol w="2427267">
                  <a:extLst>
                    <a:ext uri="{9D8B030D-6E8A-4147-A177-3AD203B41FA5}">
                      <a16:colId xmlns:a16="http://schemas.microsoft.com/office/drawing/2014/main" val="1357463190"/>
                    </a:ext>
                  </a:extLst>
                </a:gridCol>
                <a:gridCol w="2409353">
                  <a:extLst>
                    <a:ext uri="{9D8B030D-6E8A-4147-A177-3AD203B41FA5}">
                      <a16:colId xmlns:a16="http://schemas.microsoft.com/office/drawing/2014/main" val="524341875"/>
                    </a:ext>
                  </a:extLst>
                </a:gridCol>
                <a:gridCol w="2749707">
                  <a:extLst>
                    <a:ext uri="{9D8B030D-6E8A-4147-A177-3AD203B41FA5}">
                      <a16:colId xmlns:a16="http://schemas.microsoft.com/office/drawing/2014/main" val="4090294949"/>
                    </a:ext>
                  </a:extLst>
                </a:gridCol>
                <a:gridCol w="2713879">
                  <a:extLst>
                    <a:ext uri="{9D8B030D-6E8A-4147-A177-3AD203B41FA5}">
                      <a16:colId xmlns:a16="http://schemas.microsoft.com/office/drawing/2014/main" val="1900787329"/>
                    </a:ext>
                  </a:extLst>
                </a:gridCol>
              </a:tblGrid>
              <a:tr h="1145712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/ Tools Used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861916063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Blockchain-Enabled IoT Forensic Framework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fi-FI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Alharbi, M. Rahman, A. Hassan, S. Khan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Permissioned blockchain, forensic hashing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integrity of IoT forensic data.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delay due to blockchain operations.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823496144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File Sharing using IPFS and Blockchain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de-DE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Huang, J. Liu, Z. Wang, H. Chen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IPFS, blockchain hash anchoring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tamper-proof decentralized file storage.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control management is complex.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836997204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IoT Sensors to IPFS and Ethereum Prototype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Nguyen, D. Tran, P. Hoang, N. Pham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sensors, IPFS, Ethereum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Validates feasibility of IoT-to-IPFS evidence storage.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and gas cost issues.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2488639728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Edge-Based Processing for Real-Time Crash Detection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de-DE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Chen, H. Zhou, K. Wang, J. Li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computing, sensor fusion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collision detection latency.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secure evidence storage mechanism.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3256195487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Tamper Detection using Hash Chaining for Sensor Data Streams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Roberts, M. Clark, S. Lewis, D. Turner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chaining, cryptographic hashing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unauthorized modification of sensor data.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Synchronization overhead for large data streams.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3413976279"/>
                  </a:ext>
                </a:extLst>
              </a:tr>
              <a:tr h="11457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 Accident Detection and Notification System using Smartphone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sv-SE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Mohan Kumar, R. Anitha, P. Kumar, K. Suresh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Smartphone sensors, GPS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accident detection and alerting.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false positives and no evidence integrity support.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205616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189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3376-357E-DC12-BDE4-CA0053429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9DF21EC-74F3-AAE1-D301-6F0C092CAA91}"/>
              </a:ext>
            </a:extLst>
          </p:cNvPr>
          <p:cNvSpPr txBox="1"/>
          <p:nvPr/>
        </p:nvSpPr>
        <p:spPr>
          <a:xfrm>
            <a:off x="969146" y="190500"/>
            <a:ext cx="11329558" cy="100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48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RESEARCH GAP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E6FB9F-230E-456E-2543-74CBDA82207B}"/>
              </a:ext>
            </a:extLst>
          </p:cNvPr>
          <p:cNvSpPr txBox="1"/>
          <p:nvPr/>
        </p:nvSpPr>
        <p:spPr>
          <a:xfrm>
            <a:off x="1066800" y="1221476"/>
            <a:ext cx="16825765" cy="803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387286">
              <a:lnSpc>
                <a:spcPct val="15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Detection-Focused Systems:</a:t>
            </a:r>
          </a:p>
          <a:p>
            <a:pPr marL="457200"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prioritize accident detection and alerting rather than comprehensive      evidence preservation and verification.</a:t>
            </a:r>
          </a:p>
          <a:p>
            <a:pPr marL="457200" lvl="0" indent="-387286">
              <a:lnSpc>
                <a:spcPct val="15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Storage:</a:t>
            </a:r>
          </a:p>
          <a:p>
            <a:pPr marL="457200"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blockchain claims, several implementations still rely on centralized storage architectures vulnerable to tampering.</a:t>
            </a:r>
          </a:p>
          <a:p>
            <a:pPr marL="457200" lvl="0" indent="-387286">
              <a:lnSpc>
                <a:spcPct val="15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End-to-End Integration:</a:t>
            </a:r>
          </a:p>
          <a:p>
            <a:pPr marL="457200"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integration between IoT sensors, decentralized storage, and blockchain verification layers is missing.</a:t>
            </a:r>
          </a:p>
          <a:p>
            <a:pPr marL="457200" lvl="0" indent="-387286">
              <a:lnSpc>
                <a:spcPct val="150000"/>
              </a:lnSpc>
              <a:buSzPts val="2499"/>
              <a:buChar char="●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Chain-of-Custody:</a:t>
            </a:r>
          </a:p>
          <a:p>
            <a:pPr marL="457200"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approaches do not fully support transparent and verifiable evidence lifecycle management.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53248DDC-E8FB-9073-D061-04E1E70D8E22}"/>
              </a:ext>
            </a:extLst>
          </p:cNvPr>
          <p:cNvCxnSpPr/>
          <p:nvPr/>
        </p:nvCxnSpPr>
        <p:spPr>
          <a:xfrm>
            <a:off x="969146" y="125730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42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B9A4-C8C2-C0AE-BD58-EE63D734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4D7486A-19C0-E3B0-B512-4611989A6198}"/>
              </a:ext>
            </a:extLst>
          </p:cNvPr>
          <p:cNvSpPr txBox="1"/>
          <p:nvPr/>
        </p:nvSpPr>
        <p:spPr>
          <a:xfrm>
            <a:off x="990600" y="1181100"/>
            <a:ext cx="11329558" cy="100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n-US" sz="48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PROPOSED SYSTEM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CC51708-0701-CBC3-D9E4-81B153C3F091}"/>
              </a:ext>
            </a:extLst>
          </p:cNvPr>
          <p:cNvSpPr txBox="1"/>
          <p:nvPr/>
        </p:nvSpPr>
        <p:spPr>
          <a:xfrm>
            <a:off x="990600" y="2476500"/>
            <a:ext cx="16825765" cy="674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14" lvl="0">
              <a:lnSpc>
                <a:spcPct val="200000"/>
              </a:lnSpc>
              <a:buSzPts val="2499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EvidenceChain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IoT-based blockchain system for post-collision evidence management  </a:t>
            </a:r>
          </a:p>
          <a:p>
            <a:pPr marL="69914" lvl="0">
              <a:lnSpc>
                <a:spcPct val="200000"/>
              </a:lnSpc>
              <a:buSzPts val="2499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ESP32 with sensors detects accidents and collects real-time data  </a:t>
            </a:r>
          </a:p>
          <a:p>
            <a:pPr marL="69914" lvl="0">
              <a:lnSpc>
                <a:spcPct val="200000"/>
              </a:lnSpc>
              <a:buSzPts val="2499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 processes data and generates structured digital evidence  </a:t>
            </a:r>
          </a:p>
          <a:p>
            <a:pPr marL="69914" lvl="0">
              <a:lnSpc>
                <a:spcPct val="200000"/>
              </a:lnSpc>
              <a:buSzPts val="2499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IPFS is used to store large evidence files securely  </a:t>
            </a:r>
          </a:p>
          <a:p>
            <a:pPr marL="69914" lvl="0">
              <a:lnSpc>
                <a:spcPct val="200000"/>
              </a:lnSpc>
              <a:buSzPts val="2499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Blockchain stores hash and metadata for tamper-proof verification  </a:t>
            </a:r>
          </a:p>
          <a:p>
            <a:pPr marL="69914" lvl="0">
              <a:lnSpc>
                <a:spcPct val="200000"/>
              </a:lnSpc>
              <a:buSzPts val="2499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web dashboard enables authorized users to access and verify evidence </a:t>
            </a:r>
          </a:p>
          <a:p>
            <a:pPr lvl="0" algn="just">
              <a:lnSpc>
                <a:spcPct val="20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15B2FC2D-1110-DE65-0217-C9508726E12E}"/>
              </a:ext>
            </a:extLst>
          </p:cNvPr>
          <p:cNvCxnSpPr/>
          <p:nvPr/>
        </p:nvCxnSpPr>
        <p:spPr>
          <a:xfrm>
            <a:off x="990600" y="224790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37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254082-E720-F2EF-C993-5099654A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11800" cy="1024239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001F-9333-16A6-21B1-80F9A0A8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27D222A-237A-6520-5A4B-4E346177938F}"/>
              </a:ext>
            </a:extLst>
          </p:cNvPr>
          <p:cNvSpPr txBox="1"/>
          <p:nvPr/>
        </p:nvSpPr>
        <p:spPr>
          <a:xfrm>
            <a:off x="1315123" y="403482"/>
            <a:ext cx="12094834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EXPLANATION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AE2C5E5-3B74-5EF1-FC57-D15D1A609243}"/>
              </a:ext>
            </a:extLst>
          </p:cNvPr>
          <p:cNvSpPr txBox="1"/>
          <p:nvPr/>
        </p:nvSpPr>
        <p:spPr>
          <a:xfrm>
            <a:off x="1315123" y="2857500"/>
            <a:ext cx="16825765" cy="83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E57A02D7-02D9-D97F-7233-35C0F5370860}"/>
              </a:ext>
            </a:extLst>
          </p:cNvPr>
          <p:cNvCxnSpPr/>
          <p:nvPr/>
        </p:nvCxnSpPr>
        <p:spPr>
          <a:xfrm>
            <a:off x="1219200" y="163830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67129FA-4109-0073-1A0B-ED9872D2D24B}"/>
              </a:ext>
            </a:extLst>
          </p:cNvPr>
          <p:cNvSpPr txBox="1"/>
          <p:nvPr/>
        </p:nvSpPr>
        <p:spPr>
          <a:xfrm>
            <a:off x="1485900" y="1866900"/>
            <a:ext cx="15316200" cy="7390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IoT layer uses ESP32 with MPU6050 and GPS to detect collision events and collect real-time data  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backend (Node.js/Express) processes sensor data and generates structured evidence with SHA-256 hash  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Evidence files are stored in IPFS, which provides decentralized and tamper-resistant storage  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generated hash and IPFS CID are stored on the Ethereum blockchain for immutable verification  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Firebase is used to store metadata and support efficient data management  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web dashboard allows authorized users to access, view, and verify evidence records </a:t>
            </a:r>
          </a:p>
        </p:txBody>
      </p:sp>
    </p:spTree>
    <p:extLst>
      <p:ext uri="{BB962C8B-B14F-4D97-AF65-F5344CB8AC3E}">
        <p14:creationId xmlns:p14="http://schemas.microsoft.com/office/powerpoint/2010/main" val="1533870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4C1E9-559B-7DF4-2368-974B6F7A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3B48AD1-7F04-6541-2579-CA5C6F846EE4}"/>
              </a:ext>
            </a:extLst>
          </p:cNvPr>
          <p:cNvSpPr txBox="1"/>
          <p:nvPr/>
        </p:nvSpPr>
        <p:spPr>
          <a:xfrm>
            <a:off x="818477" y="-32921"/>
            <a:ext cx="131064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7EDD49BB-EE63-5BEE-A5C5-100CDEE48A31}"/>
              </a:ext>
            </a:extLst>
          </p:cNvPr>
          <p:cNvCxnSpPr/>
          <p:nvPr/>
        </p:nvCxnSpPr>
        <p:spPr>
          <a:xfrm>
            <a:off x="914400" y="1250787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C2AAE8-A8B7-4158-F6EF-134F36CA6B31}"/>
              </a:ext>
            </a:extLst>
          </p:cNvPr>
          <p:cNvSpPr txBox="1"/>
          <p:nvPr/>
        </p:nvSpPr>
        <p:spPr>
          <a:xfrm>
            <a:off x="914400" y="1427413"/>
            <a:ext cx="13944600" cy="274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ESP32 – Microcontroller for sensor data collection and communication 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MPU6050 – Accelerometer and gyroscope for motion and collision detection 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NEO-6M GPS Module – Captures location and timestamp of accident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1CB0C-CCA1-B107-7E31-7BB499D1300A}"/>
              </a:ext>
            </a:extLst>
          </p:cNvPr>
          <p:cNvSpPr txBox="1"/>
          <p:nvPr/>
        </p:nvSpPr>
        <p:spPr>
          <a:xfrm>
            <a:off x="914400" y="4170472"/>
            <a:ext cx="16230600" cy="5220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/ Platforms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IDE – Programming ESP32 and interfacing sensors 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Node.js &amp; Express.js – Backend for data processing and API handling 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React.js – Frontend dashboard for visualization and verification 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IPFS (Pinata) – Decentralized storage for accident evidence 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Ethereum (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Sepolia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Blockchain for storing hash and metadata 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Firebase – Database and authentication for system management  </a:t>
            </a:r>
          </a:p>
        </p:txBody>
      </p:sp>
    </p:spTree>
    <p:extLst>
      <p:ext uri="{BB962C8B-B14F-4D97-AF65-F5344CB8AC3E}">
        <p14:creationId xmlns:p14="http://schemas.microsoft.com/office/powerpoint/2010/main" val="4104939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95DB-BE02-5945-FBAA-5A036C80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8AC6CFC-39C7-956D-745A-1A942769259D}"/>
              </a:ext>
            </a:extLst>
          </p:cNvPr>
          <p:cNvSpPr txBox="1"/>
          <p:nvPr/>
        </p:nvSpPr>
        <p:spPr>
          <a:xfrm>
            <a:off x="818477" y="-32921"/>
            <a:ext cx="131064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76F36836-38D1-9037-911E-716724EC76AB}"/>
              </a:ext>
            </a:extLst>
          </p:cNvPr>
          <p:cNvCxnSpPr/>
          <p:nvPr/>
        </p:nvCxnSpPr>
        <p:spPr>
          <a:xfrm>
            <a:off x="914400" y="1250787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DCD15B-3277-535C-21FC-5FCBED9A8061}"/>
              </a:ext>
            </a:extLst>
          </p:cNvPr>
          <p:cNvSpPr txBox="1"/>
          <p:nvPr/>
        </p:nvSpPr>
        <p:spPr>
          <a:xfrm>
            <a:off x="914400" y="1427413"/>
            <a:ext cx="13944600" cy="7390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Threshold-Based Collision Detection Algorithm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collision when sensor values exceed predefined thresholds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Event-Triggered Data Freezing Algorithm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Freezes sensor data immediately after collision to preserve evidence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SHA-256 Hashing Algorithm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unique hash to ensure data integrity and prevent tampering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IPFS Content-Addressed Storage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evidence using content-based addressing and generates a unique CID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Blockchain Integrity Verification  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hash on blockchain to ensure immutability and enable verification </a:t>
            </a:r>
          </a:p>
        </p:txBody>
      </p:sp>
    </p:spTree>
    <p:extLst>
      <p:ext uri="{BB962C8B-B14F-4D97-AF65-F5344CB8AC3E}">
        <p14:creationId xmlns:p14="http://schemas.microsoft.com/office/powerpoint/2010/main" val="1694768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237C-73F4-D9A6-5DE8-5221022C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AA0BAD0-AF43-C898-DBBC-53C110CF3234}"/>
              </a:ext>
            </a:extLst>
          </p:cNvPr>
          <p:cNvSpPr txBox="1"/>
          <p:nvPr/>
        </p:nvSpPr>
        <p:spPr>
          <a:xfrm>
            <a:off x="818477" y="-32921"/>
            <a:ext cx="131064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0E39B61C-5FAF-145E-F08A-21C7292C6B44}"/>
              </a:ext>
            </a:extLst>
          </p:cNvPr>
          <p:cNvCxnSpPr/>
          <p:nvPr/>
        </p:nvCxnSpPr>
        <p:spPr>
          <a:xfrm>
            <a:off x="914400" y="1250787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E60097F-545B-788C-9EC5-AEBF11117C15}"/>
              </a:ext>
            </a:extLst>
          </p:cNvPr>
          <p:cNvSpPr txBox="1"/>
          <p:nvPr/>
        </p:nvSpPr>
        <p:spPr>
          <a:xfrm>
            <a:off x="4572000" y="355690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A285307-2E97-C5DE-82DD-85779A421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779165"/>
              </p:ext>
            </p:extLst>
          </p:nvPr>
        </p:nvGraphicFramePr>
        <p:xfrm>
          <a:off x="1447800" y="1562101"/>
          <a:ext cx="15087600" cy="716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83982683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6931963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0689207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221942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43494600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08326528"/>
                    </a:ext>
                  </a:extLst>
                </a:gridCol>
              </a:tblGrid>
              <a:tr h="1023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Result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4787159"/>
                  </a:ext>
                </a:extLst>
              </a:tr>
              <a:tr h="1023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Collision Detection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 exceeded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Collision detected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Collision detected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0887752"/>
                  </a:ext>
                </a:extLst>
              </a:tr>
              <a:tr h="1023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Cooldown Period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triggers in 30 sec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trigger suppressed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trigger suppressed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79435209"/>
                  </a:ext>
                </a:extLst>
              </a:tr>
              <a:tr h="1023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Pipeline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 impact data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pipeline executed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stored &amp; verified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88139774"/>
                  </a:ext>
                </a:extLst>
              </a:tr>
              <a:tr h="1023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 Storage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JSON to IPFS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 generated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 generated successfully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6465422"/>
                  </a:ext>
                </a:extLst>
              </a:tr>
              <a:tr h="1023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Recording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hash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confirmed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confirmed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4947419"/>
                  </a:ext>
                </a:extLst>
              </a:tr>
              <a:tr h="1023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Tamper Detection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Modify evidence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mismatch detected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Tampering detected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82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291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E6D6-A628-3DC0-6555-93A21C29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63D93CF-83FA-D349-E2CC-80FA563053BB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DFDAD22B-7EBD-F1D6-372A-C6A1C7DBDFDB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B5738C-5BA7-46DF-54CC-4E703788404B}"/>
              </a:ext>
            </a:extLst>
          </p:cNvPr>
          <p:cNvSpPr txBox="1"/>
          <p:nvPr/>
        </p:nvSpPr>
        <p:spPr>
          <a:xfrm>
            <a:off x="6553200" y="8901091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DA65E4-ECDF-A123-459E-CD7E39C9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945411"/>
            <a:ext cx="12788103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03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9031-294D-760D-D2ED-BEFC02B9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27EAB5E-14F1-D0E0-49B7-60F287FFBC68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716F955D-D9FB-6DCD-A7F9-DBF3A6243CE7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554507-8A39-0474-A79B-C182D8CDAAF3}"/>
              </a:ext>
            </a:extLst>
          </p:cNvPr>
          <p:cNvSpPr txBox="1"/>
          <p:nvPr/>
        </p:nvSpPr>
        <p:spPr>
          <a:xfrm>
            <a:off x="6553200" y="8901091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Investigator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19CF9-817C-30CB-F866-EA47496E1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24244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83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632E4-1912-04BA-CB56-7F155ADE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E54AEDF-2011-520F-89FC-A5629BF90CA2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097F81D3-5C95-C96D-B535-34A8A1C76C5A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8DBCE69-F979-CE71-5F7E-94A862170E65}"/>
              </a:ext>
            </a:extLst>
          </p:cNvPr>
          <p:cNvSpPr txBox="1"/>
          <p:nvPr/>
        </p:nvSpPr>
        <p:spPr>
          <a:xfrm>
            <a:off x="7162800" y="9025235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Case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DBD558-441C-219C-8ED1-D0F2760AF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011193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2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BD3E-D451-2781-54F9-3EDCBE0F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9BAB69C-0D25-D11E-4928-59CA49F5C807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28E6F159-6115-AF9D-3A86-032B93B1B53E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6B6350-54BE-B617-8848-F2874AC38D07}"/>
              </a:ext>
            </a:extLst>
          </p:cNvPr>
          <p:cNvSpPr txBox="1"/>
          <p:nvPr/>
        </p:nvSpPr>
        <p:spPr>
          <a:xfrm>
            <a:off x="6858000" y="8933615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Case Page(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BD8343-B8C0-C1DD-EF71-9C60BEC14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45426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2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4564-A82E-FAE8-6D70-B4AD6E11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703548-027A-C42F-A2BD-05C0B7129692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92F3386F-B531-98CD-BDC8-B4E99E0134DE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1EB969-BB7C-CD8A-5C10-621ADE1C97AC}"/>
              </a:ext>
            </a:extLst>
          </p:cNvPr>
          <p:cNvSpPr txBox="1"/>
          <p:nvPr/>
        </p:nvSpPr>
        <p:spPr>
          <a:xfrm>
            <a:off x="6858000" y="9029700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Integirty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Verifier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0C670-D2A5-27D0-1561-00AA642D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41058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3061-44B1-F816-097C-D8431D32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F1C33E9-564E-3732-50E9-7D6ACA79DD40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1539094D-7E41-4E70-F60A-8443DCB6D95C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6680EB-F852-97C7-94EC-4781B46BDFCB}"/>
              </a:ext>
            </a:extLst>
          </p:cNvPr>
          <p:cNvSpPr txBox="1"/>
          <p:nvPr/>
        </p:nvSpPr>
        <p:spPr>
          <a:xfrm>
            <a:off x="6553200" y="9029700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Case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58A68-A292-49E5-7DCD-B4E5AFF7A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036825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84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8D58E-AF7A-6627-8FC5-CCE27C89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23A487F-B41A-E51D-55BE-4DA7A78F0578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1F017088-07AF-AAF6-2D98-837435009ADD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10F4CD-91FD-F438-880E-36C36956DAFF}"/>
              </a:ext>
            </a:extLst>
          </p:cNvPr>
          <p:cNvSpPr txBox="1"/>
          <p:nvPr/>
        </p:nvSpPr>
        <p:spPr>
          <a:xfrm>
            <a:off x="7086600" y="8933615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IPFS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32581-2721-DAFA-2DAD-6F924C1FA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883067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41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B25D-43E0-034C-006C-990B206F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5AB7EC3-6424-45CF-9BD9-9813CA2CA961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FBE37459-CE5A-5EF7-20DF-3B409C4389D0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664626E-076C-BC9C-C752-40448892D331}"/>
              </a:ext>
            </a:extLst>
          </p:cNvPr>
          <p:cNvSpPr txBox="1"/>
          <p:nvPr/>
        </p:nvSpPr>
        <p:spPr>
          <a:xfrm>
            <a:off x="6705600" y="8933615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in Blockchain(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Sepholia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E6302B-71E1-3BF3-6358-B160227CD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53440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54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4E138-B892-C59C-DCC9-FED6E4E92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D126924-9EE7-F6AD-BDF8-5FE92D3C6CA2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9E86D454-10C5-C77D-9EAF-6D52D2D24C8E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668DC75-0EDD-80EB-524B-1C5B696C9643}"/>
              </a:ext>
            </a:extLst>
          </p:cNvPr>
          <p:cNvSpPr txBox="1"/>
          <p:nvPr/>
        </p:nvSpPr>
        <p:spPr>
          <a:xfrm>
            <a:off x="6705600" y="8933615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Stored in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868E4-B6B7-5BE0-DCDE-F29E74660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961907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48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034ED-0556-021F-DC2F-00B39FAD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8E900C6-E4C9-0708-627A-4991B1AF0B79}"/>
              </a:ext>
            </a:extLst>
          </p:cNvPr>
          <p:cNvSpPr txBox="1"/>
          <p:nvPr/>
        </p:nvSpPr>
        <p:spPr>
          <a:xfrm>
            <a:off x="304800" y="-361420"/>
            <a:ext cx="10972800" cy="1252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	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319945B8-0A18-850A-6177-5871D8D6049B}"/>
              </a:ext>
            </a:extLst>
          </p:cNvPr>
          <p:cNvCxnSpPr/>
          <p:nvPr/>
        </p:nvCxnSpPr>
        <p:spPr>
          <a:xfrm>
            <a:off x="304800" y="89172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9A64F5-2FC0-1D6B-3A1C-06BEC73C3621}"/>
              </a:ext>
            </a:extLst>
          </p:cNvPr>
          <p:cNvSpPr txBox="1"/>
          <p:nvPr/>
        </p:nvSpPr>
        <p:spPr>
          <a:xfrm>
            <a:off x="6629400" y="8991067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Verifier Detecting Tampered Evidence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DA5B5-1C93-DFF9-AC1A-B081E0DB1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28700"/>
            <a:ext cx="12788102" cy="79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58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5FB25-51D3-6F70-ECE4-CD92827D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6C6460D-9859-80D8-DE9E-0114CC6125D6}"/>
              </a:ext>
            </a:extLst>
          </p:cNvPr>
          <p:cNvSpPr txBox="1"/>
          <p:nvPr/>
        </p:nvSpPr>
        <p:spPr>
          <a:xfrm>
            <a:off x="425605" y="139224"/>
            <a:ext cx="12954000" cy="1270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97E462DD-BE47-E94D-D2A2-B34264BABA97}"/>
              </a:ext>
            </a:extLst>
          </p:cNvPr>
          <p:cNvCxnSpPr/>
          <p:nvPr/>
        </p:nvCxnSpPr>
        <p:spPr>
          <a:xfrm>
            <a:off x="457200" y="1409700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8D1CB5-945D-B98E-E182-930769ACEB0B}"/>
              </a:ext>
            </a:extLst>
          </p:cNvPr>
          <p:cNvSpPr txBox="1"/>
          <p:nvPr/>
        </p:nvSpPr>
        <p:spPr>
          <a:xfrm>
            <a:off x="762000" y="1562100"/>
            <a:ext cx="14020800" cy="7925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2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successfully detected collision events using sensor threshold logic with    minimal false triggers  </a:t>
            </a:r>
          </a:p>
          <a:p>
            <a:pPr algn="just">
              <a:spcBef>
                <a:spcPts val="600"/>
              </a:spcBef>
              <a:spcAft>
                <a:spcPts val="2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Evidence generation pipeline worked efficiently, producing structured JSON data without loss  </a:t>
            </a:r>
          </a:p>
          <a:p>
            <a:pPr algn="just">
              <a:spcBef>
                <a:spcPts val="600"/>
              </a:spcBef>
              <a:spcAft>
                <a:spcPts val="2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IPFS storage ensured secure and decentralized handling of evidence with unique CID generation  </a:t>
            </a:r>
          </a:p>
          <a:p>
            <a:pPr algn="just">
              <a:spcBef>
                <a:spcPts val="600"/>
              </a:spcBef>
              <a:spcAft>
                <a:spcPts val="2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Blockchain anchoring provided immutable verification, preventing any modification of stored evidence  </a:t>
            </a:r>
          </a:p>
          <a:p>
            <a:pPr algn="just">
              <a:spcBef>
                <a:spcPts val="600"/>
              </a:spcBef>
              <a:spcAft>
                <a:spcPts val="2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Tamper detection mechanism accurately identified modified data through hash comparison  </a:t>
            </a:r>
          </a:p>
          <a:p>
            <a:pPr algn="just">
              <a:spcBef>
                <a:spcPts val="600"/>
              </a:spcBef>
              <a:spcAft>
                <a:spcPts val="2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and custody tracking improved transparency and accountability in evidence handling </a:t>
            </a:r>
          </a:p>
        </p:txBody>
      </p:sp>
    </p:spTree>
    <p:extLst>
      <p:ext uri="{BB962C8B-B14F-4D97-AF65-F5344CB8AC3E}">
        <p14:creationId xmlns:p14="http://schemas.microsoft.com/office/powerpoint/2010/main" val="167951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B15C-2059-4819-8B51-14E28B19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F6A0E06-6213-6698-6B19-7848BFFDCF25}"/>
              </a:ext>
            </a:extLst>
          </p:cNvPr>
          <p:cNvSpPr txBox="1"/>
          <p:nvPr/>
        </p:nvSpPr>
        <p:spPr>
          <a:xfrm>
            <a:off x="762000" y="924189"/>
            <a:ext cx="12954000" cy="1270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14" lvl="0" algn="just">
              <a:lnSpc>
                <a:spcPct val="200000"/>
              </a:lnSpc>
              <a:buSzPts val="2499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D6BD870-90AD-6B6D-768B-42BA760084B8}"/>
              </a:ext>
            </a:extLst>
          </p:cNvPr>
          <p:cNvSpPr txBox="1"/>
          <p:nvPr/>
        </p:nvSpPr>
        <p:spPr>
          <a:xfrm>
            <a:off x="914400" y="2552700"/>
            <a:ext cx="16230599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EvidenceChain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secure and reliable system for post-collision evidence management 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integration of IoT, IPFS, and blockchain ensures real-time data capture and tamper-proof storage 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Blockchain anchoring guarantees data integrity and transparent verification 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improves trust in forensic investigation, insurance claims, and legal processes 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proposed solution demonstrates an effective approach for secure and verifiable evidence handling </a:t>
            </a:r>
          </a:p>
        </p:txBody>
      </p:sp>
      <p:cxnSp>
        <p:nvCxnSpPr>
          <p:cNvPr id="5" name="Google Shape;88;p13">
            <a:extLst>
              <a:ext uri="{FF2B5EF4-FFF2-40B4-BE49-F238E27FC236}">
                <a16:creationId xmlns:a16="http://schemas.microsoft.com/office/drawing/2014/main" id="{5BC7E811-2A0C-4484-7F7D-1E3B78115512}"/>
              </a:ext>
            </a:extLst>
          </p:cNvPr>
          <p:cNvCxnSpPr/>
          <p:nvPr/>
        </p:nvCxnSpPr>
        <p:spPr>
          <a:xfrm>
            <a:off x="762000" y="2194665"/>
            <a:ext cx="1158420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829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978AF-EFDA-5CCB-EFA0-E800198E0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FF8D56-8579-A336-A749-D50CBDEC5A04}"/>
              </a:ext>
            </a:extLst>
          </p:cNvPr>
          <p:cNvSpPr txBox="1"/>
          <p:nvPr/>
        </p:nvSpPr>
        <p:spPr>
          <a:xfrm>
            <a:off x="838200" y="190617"/>
            <a:ext cx="10058400" cy="1583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6"/>
              </a:lnSpc>
            </a:pPr>
            <a:r>
              <a:rPr lang="en-US" sz="4800" b="1" dirty="0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FUTURE SCOPE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4E0115-1F38-62A0-917B-0A302B1253D8}"/>
              </a:ext>
            </a:extLst>
          </p:cNvPr>
          <p:cNvCxnSpPr/>
          <p:nvPr/>
        </p:nvCxnSpPr>
        <p:spPr>
          <a:xfrm>
            <a:off x="914400" y="1773743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580135-2743-3DB3-46F9-9B35B4D6A035}"/>
              </a:ext>
            </a:extLst>
          </p:cNvPr>
          <p:cNvSpPr txBox="1"/>
          <p:nvPr/>
        </p:nvSpPr>
        <p:spPr>
          <a:xfrm>
            <a:off x="838200" y="1943100"/>
            <a:ext cx="16535400" cy="665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emergency response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to notify police and medical services 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 of edge computing for faster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on-device processing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enhanced data security 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 of a mobile application for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rts and evidence management 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of insurance claim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using blockchain smart contracts 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 for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multi-chain blockchain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scalability and reduce transaction costs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831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7329-219B-05C5-CC75-A7632097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2F6A2FC-D5DC-3294-99C3-034990B3390F}"/>
              </a:ext>
            </a:extLst>
          </p:cNvPr>
          <p:cNvSpPr txBox="1"/>
          <p:nvPr/>
        </p:nvSpPr>
        <p:spPr>
          <a:xfrm>
            <a:off x="4648200" y="4000500"/>
            <a:ext cx="10058400" cy="1743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6"/>
              </a:lnSpc>
            </a:pPr>
            <a:r>
              <a:rPr lang="en-US" sz="9600" b="1"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THANK YOU</a:t>
            </a:r>
            <a:endParaRPr lang="en-US" sz="9600" b="1" dirty="0">
              <a:latin typeface="Times New Roman" panose="02020603050405020304" pitchFamily="18" charset="0"/>
              <a:ea typeface="TS Qamus Bold"/>
              <a:cs typeface="Times New Roman" panose="02020603050405020304" pitchFamily="18" charset="0"/>
              <a:sym typeface="TS Qamus Bold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9B51B1-F23D-4BDC-BF88-C359E1A60732}"/>
              </a:ext>
            </a:extLst>
          </p:cNvPr>
          <p:cNvCxnSpPr/>
          <p:nvPr/>
        </p:nvCxnSpPr>
        <p:spPr>
          <a:xfrm>
            <a:off x="4953000" y="5743541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7735EF-77D7-41C9-8B5E-C654D73431EC}"/>
              </a:ext>
            </a:extLst>
          </p:cNvPr>
          <p:cNvCxnSpPr/>
          <p:nvPr/>
        </p:nvCxnSpPr>
        <p:spPr>
          <a:xfrm>
            <a:off x="5181600" y="5905500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1744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682</TotalTime>
  <Words>1557</Words>
  <Application>Microsoft Office PowerPoint</Application>
  <PresentationFormat>Custom</PresentationFormat>
  <Paragraphs>258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Times New Roman</vt:lpstr>
      <vt:lpstr>Calibri Light</vt:lpstr>
      <vt:lpstr>Calibri</vt:lpstr>
      <vt:lpstr>Aptos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Sravanth Babu K</dc:creator>
  <cp:lastModifiedBy>Sravanth Babu K</cp:lastModifiedBy>
  <cp:revision>12</cp:revision>
  <dcterms:created xsi:type="dcterms:W3CDTF">2006-08-16T00:00:00Z</dcterms:created>
  <dcterms:modified xsi:type="dcterms:W3CDTF">2026-04-23T12:38:08Z</dcterms:modified>
  <dc:identifier>DAHDlMhVV0k</dc:identifier>
</cp:coreProperties>
</file>